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mensagem do deck é uma só: o topo de funil já responde, o problema migrou para o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 da discussão. Deixe claro que a crítica não é ao topo de funil — agosto foi o melhor mês do projeto. A conversa do dia é sobre o que acontece depois da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Reconheça a virada de agosto — é mérito do time. Em seguida, plante o alerta: a curva de metas do semestre sobe (44, 56, 56) e o ritmo de setembro está na metade do necessário.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Julho distorce a média: dois negócios de R$ 4,8 mil. Junho e agosto mostram o ticket real da operação, próximo de R$ 50 mil — que é o que o plano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central do deck. O meio do funil é forte: 91% de comparecimento, 90% de avanço para validação externa. A ruptura é proposta → contrato enviado: 62 para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os benchmarks para tirar o julgamento da conversa. O time está acima do padrão em duas das três métricas. Isso dá autoridade para cobrar a terceira. R$ 25 mil por ponto percentual = 62 propostas x 1% x ticket de R$ 41,5 mil.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canal frio não é ruim por definição — o ABM fecha 100% do que agenda, só não agenda. Já Dripify e Webinar falham nas duas pontas. Eventos é o caso mais caro: agenda muito e não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o objetivo é separar “canal ruim” de “execução incompleta”. Dripify não tem ligação na cadência — sem ligação, engajamento no LinkedIn não vira reunião. Webinar precisa de confirmação D-1.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decisão de alocação. Não é sobre desligar canal frio — é sobre a meta semanal refletir onde o dinheiro está sendo feito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apresente isso como erro de quem montou a meta — apresente como ajuste de premissa depois de quatro meses de dado real. A saída barata é o fechamento, não mais topo de funil.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a meta de mensal para diária. O time não consegue agir sobre “44 no mês”; consegue agir sobre “2 a 3 reuniões marcadas hoje”. Esse é o número do quadro do War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 proposta, não fechada. Saia da reunião com dono e data para cada linha. As duas primeiras semanas são as que mudam o resultado de setembro.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pedindo decisão, não concordância. Cada uma das três tem dono, prazo e impacto direto na meta do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187452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95528" y="2418588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78408" y="23225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REUNIÃO DE PERFORMANCE · TIME COMERCIAL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49808" y="26974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spc="-1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Educa Open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spc="-1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comercial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777240" y="4709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o funil mostra de junho a setembro de 2026 — onde estamos ganhando,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onde estamos perdendo receita e o que precisa mudar até o fim do semestre.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77240" y="5806440"/>
            <a:ext cx="457200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5989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PERÍODO JUN–SET/2026   ·   DADOS DO PIPEDRIVE ATÉ 04/09   ·   SETEMBRO PARCIAL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77240" y="62636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LEADEREI  ·  CONSULTORIA DE VENDAS B2B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PANORAMA DO PERÍODO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80"/>
              </a:lnSpc>
              <a:buNone/>
            </a:pPr>
            <a:r>
              <a:rPr lang="en-US" sz="40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Agosto bateu a meta.</a:t>
            </a:r>
            <a:endParaRPr lang="en-US" sz="4000" dirty="0"/>
          </a:p>
          <a:p>
            <a:pPr indent="0" marL="0">
              <a:lnSpc>
                <a:spcPts val="4480"/>
              </a:lnSpc>
              <a:buNone/>
            </a:pPr>
            <a:r>
              <a:rPr lang="en-US" sz="40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Setembro é o teste.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2395728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18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AGENDAMENTOS EM AGOSTO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37307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129% da meta  ·  +64% vs. julho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08960" y="2697480"/>
            <a:ext cx="0" cy="114300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18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3383280" y="3474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NEGÓCIOS GANHOS JUN–SET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0" y="37307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R$ 498,5 mil em contratos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852160" y="2697480"/>
            <a:ext cx="0" cy="114300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18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19%</a:t>
            </a:r>
            <a:endParaRPr lang="en-US" sz="5000" dirty="0"/>
          </a:p>
        </p:txBody>
      </p:sp>
      <p:sp>
        <p:nvSpPr>
          <p:cNvPr id="16" name="Text 13"/>
          <p:cNvSpPr/>
          <p:nvPr/>
        </p:nvSpPr>
        <p:spPr>
          <a:xfrm>
            <a:off x="6126480" y="3474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FECHAMENTO / PROPOSTAS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26480" y="37307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padrão Leaderei: 25–40%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595360" y="2697480"/>
            <a:ext cx="0" cy="114300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18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44</a:t>
            </a:r>
            <a:endParaRPr lang="en-US" sz="5000" dirty="0"/>
          </a:p>
        </p:txBody>
      </p:sp>
      <p:sp>
        <p:nvSpPr>
          <p:cNvPr id="20" name="Text 17"/>
          <p:cNvSpPr/>
          <p:nvPr/>
        </p:nvSpPr>
        <p:spPr>
          <a:xfrm>
            <a:off x="8869680" y="3474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 DE SETEMBRO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869680" y="37307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maior do semestre  ·  ritmo 48%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420624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4626864"/>
            <a:ext cx="77724" cy="77724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9536" y="4526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topo respondeu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495604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 4 reuniões em junho para 36 em agosto. A máquina de agendamento está de pé.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108960" y="4526280"/>
            <a:ext cx="0" cy="118872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83280" y="4626864"/>
            <a:ext cx="77724" cy="77724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02736" y="4526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fundo travou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383280" y="495604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62 propostas enviadas viraram 12 negócios ganhos. É onde a receita está parando.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852160" y="4526280"/>
            <a:ext cx="0" cy="118872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26480" y="4626864"/>
            <a:ext cx="77724" cy="77724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45936" y="4526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 concentrado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126480" y="495604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Parcerias e indicações são 4% das entradas e 58% dos ganhos.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595360" y="4526280"/>
            <a:ext cx="0" cy="118872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869680" y="4626864"/>
            <a:ext cx="77724" cy="77724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89136" y="4526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Ticket abaixo do plano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869680" y="495604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R$ 41,5 mil de ticket médio contra os R$ 50 mil assumidos.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40080" y="64190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Fontes: funil da Educa Open no Pipedrive e planilha de metas do 2º semestre. Setembro parcial: 4 de 21 dias úteis.</a:t>
            </a:r>
            <a:endParaRPr lang="en-US" sz="9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TOPO DE FUNIL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Nove vezes mais reuniões em três meses.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097280" y="4684222"/>
            <a:ext cx="868680" cy="207818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39161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965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52029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meta definida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97480" y="3749040"/>
            <a:ext cx="868680" cy="1143000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23160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51176" y="2865813"/>
            <a:ext cx="1161288" cy="0"/>
          </a:xfrm>
          <a:prstGeom prst="line">
            <a:avLst/>
          </a:prstGeom>
          <a:noFill/>
          <a:ln w="22225">
            <a:solidFill>
              <a:srgbClr val="DF4E0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67328" y="2746941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 39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423160" y="4965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194560" y="52029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56% da meta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97680" y="3021676"/>
            <a:ext cx="868680" cy="1870364"/>
          </a:xfrm>
          <a:prstGeom prst="rect">
            <a:avLst/>
          </a:prstGeom>
          <a:solidFill>
            <a:srgbClr val="E9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27290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151376" y="3437313"/>
            <a:ext cx="1161288" cy="0"/>
          </a:xfrm>
          <a:prstGeom prst="line">
            <a:avLst/>
          </a:prstGeom>
          <a:noFill/>
          <a:ln w="22225">
            <a:solidFill>
              <a:srgbClr val="DF4E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67528" y="3318441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 28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023360" y="4965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794760" y="52029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129% da meta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97880" y="4684222"/>
            <a:ext cx="868680" cy="207818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23560" y="439161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751576" y="2606040"/>
            <a:ext cx="1161288" cy="0"/>
          </a:xfrm>
          <a:prstGeom prst="line">
            <a:avLst/>
          </a:prstGeom>
          <a:noFill/>
          <a:ln w="22225">
            <a:solidFill>
              <a:srgbClr val="DF4E0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67728" y="24871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 44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23560" y="4965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set*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394960" y="52029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ritmo: 48%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0080" y="4892040"/>
            <a:ext cx="64922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35240" y="2148840"/>
            <a:ext cx="0" cy="310896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01000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ISSO SIGNIFICA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01000" y="26060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operação de pré-venda saiu do zero. Julho ficou em 56% da meta — mês de rampa. Agosto virou a chave e entregou 129%.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001000" y="3977640"/>
            <a:ext cx="35204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01000" y="4206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ALERTA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001000" y="46177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meta de setembro (44) é 57% maior que o realizado de agosto e a maior do semestre. Outubro e novembro pedem 56.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40080" y="64190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Topo de funil = reuniões de diagnóstico criadas no mês (Pipedrive). Metas conforme planilha do 2º semestre.  *Setembro parcial: 4 de 21 dias úteis.</a:t>
            </a:r>
            <a:endParaRPr lang="en-US" sz="9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 FINANCEIRO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R$ 498,5 mil ganhos em quatro meses.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MÊS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554480" y="2286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GANHOS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651760" y="2286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89120" y="2286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TICKET MÉDIO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788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554480" y="2788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651760" y="2788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R$ 205,0 mil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389120" y="2788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R$ 51,3 mil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309360" y="28072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Melhor mês em ticket médio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264408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4472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jul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554480" y="34472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651760" y="34472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R$ 9,5 mil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389120" y="34472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R$ 4,8 mil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309360" y="346557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Dois negócios pequenos — puxam a média para baixo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3922776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1056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ago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554480" y="41056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651760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R$ 249,0 mil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4389120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R$ 49,8 mil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309360" y="41239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Recorde em quantidade e em valor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4581144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47640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set*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1554480" y="47640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2651760" y="4764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R$ 35,0 mil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4389120" y="4764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R$ 35,0 mil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6309360" y="47823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Parcial — 4 dias úteis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5239512"/>
            <a:ext cx="10908792" cy="0"/>
          </a:xfrm>
          <a:prstGeom prst="line">
            <a:avLst/>
          </a:prstGeom>
          <a:noFill/>
          <a:ln w="9525">
            <a:solidFill>
              <a:srgbClr val="DF4E0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54406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1554480" y="54406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2651760" y="54406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R$ 498,5 mil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4389120" y="54406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R$ 41,5 mil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6309360" y="544982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Ticket implícito do plano: R$ 50 mil. O realizado está 17% abaixo.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190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Valores conforme relatório de negócios ganhos do Pipedrive (arredondados na origem). Ticket implícito do plano = R$ 2.127.500 ÷ 42,55 clientes.</a:t>
            </a:r>
            <a:endParaRPr lang="en-US" sz="90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SAÚDE DO FUNIL · ACUMULADO DO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funil só quebra depois da proposta.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ETAPA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36676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NEGÓCIOS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464040" y="2057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CONVERSÃO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652760" y="205740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PERDA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2459736"/>
            <a:ext cx="5394960" cy="219456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441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Pesquisa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66760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915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2715768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88920" y="2843784"/>
            <a:ext cx="4805347" cy="219456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825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 cadência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66760" y="2825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815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464040" y="28254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89%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652760" y="282549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−100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3099816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88920" y="3227832"/>
            <a:ext cx="1456344" cy="219456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2095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Engajado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66760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247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464040" y="3209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30%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0652760" y="320954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−568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483864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88920" y="3611880"/>
            <a:ext cx="737016" cy="219456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5935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Diagnóstico agendado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366760" y="3593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9464040" y="3593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51%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0652760" y="35935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−122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40080" y="3867912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88920" y="3995928"/>
            <a:ext cx="672159" cy="219456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0080" y="3977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Diagnóstico realizado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366760" y="3977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114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9464040" y="39776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91%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10652760" y="39776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−11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0080" y="425196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788920" y="4379976"/>
            <a:ext cx="607302" cy="219456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4361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Validação externa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366760" y="4361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103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9464040" y="43616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90%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0652760" y="436168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−11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40080" y="4636008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88920" y="4764024"/>
            <a:ext cx="365560" cy="219456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0080" y="47457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Proposta enviada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8366760" y="4745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62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9464040" y="47457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60%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10652760" y="474573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−41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640080" y="5020056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88920" y="5148072"/>
            <a:ext cx="117923" cy="219456"/>
          </a:xfrm>
          <a:prstGeom prst="rect">
            <a:avLst/>
          </a:prstGeom>
          <a:solidFill>
            <a:srgbClr val="DF4E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0080" y="5129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Contrato enviado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8366760" y="5129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</a:t>
            </a:r>
            <a:endParaRPr lang="en-US" sz="1350" dirty="0"/>
          </a:p>
        </p:txBody>
      </p:sp>
      <p:sp>
        <p:nvSpPr>
          <p:cNvPr id="54" name="Text 51"/>
          <p:cNvSpPr/>
          <p:nvPr/>
        </p:nvSpPr>
        <p:spPr>
          <a:xfrm>
            <a:off x="9464040" y="51297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32%</a:t>
            </a:r>
            <a:endParaRPr lang="en-US" sz="1350" dirty="0"/>
          </a:p>
        </p:txBody>
      </p:sp>
      <p:sp>
        <p:nvSpPr>
          <p:cNvPr id="55" name="Text 52"/>
          <p:cNvSpPr/>
          <p:nvPr/>
        </p:nvSpPr>
        <p:spPr>
          <a:xfrm>
            <a:off x="10652760" y="512978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−42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640080" y="5404104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88920" y="5532120"/>
            <a:ext cx="70754" cy="219456"/>
          </a:xfrm>
          <a:prstGeom prst="rect">
            <a:avLst/>
          </a:prstGeom>
          <a:solidFill>
            <a:srgbClr val="E9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40080" y="5513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Ganho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8366760" y="5513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350" dirty="0"/>
          </a:p>
        </p:txBody>
      </p:sp>
      <p:sp>
        <p:nvSpPr>
          <p:cNvPr id="60" name="Text 57"/>
          <p:cNvSpPr/>
          <p:nvPr/>
        </p:nvSpPr>
        <p:spPr>
          <a:xfrm>
            <a:off x="9464040" y="55138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60%</a:t>
            </a:r>
            <a:endParaRPr lang="en-US" sz="1350" dirty="0"/>
          </a:p>
        </p:txBody>
      </p:sp>
      <p:sp>
        <p:nvSpPr>
          <p:cNvPr id="61" name="Text 58"/>
          <p:cNvSpPr/>
          <p:nvPr/>
        </p:nvSpPr>
        <p:spPr>
          <a:xfrm>
            <a:off x="10652760" y="55138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−8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640080" y="5788152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0080" y="59253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diagnóstico à validação externa o funil segura 90% a cada passo. Da proposta para o contrato ele perde 68%.</a:t>
            </a:r>
            <a:endParaRPr lang="en-US" sz="1350" dirty="0"/>
          </a:p>
        </p:txBody>
      </p:sp>
      <p:sp>
        <p:nvSpPr>
          <p:cNvPr id="64" name="Text 61"/>
          <p:cNvSpPr/>
          <p:nvPr/>
        </p:nvSpPr>
        <p:spPr>
          <a:xfrm>
            <a:off x="640080" y="635508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Relatório de conversão do funil no Pipedrive, acumulado do projeto. Conversão = passagem da etapa anterior para a etapa da linha.</a:t>
            </a:r>
            <a:endParaRPr lang="en-US" sz="900" dirty="0"/>
          </a:p>
        </p:txBody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COMPARAÇÃO COM O PADRÃO LEADEREI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Dois indicadores acima do padrão.</a:t>
            </a:r>
            <a:endParaRPr lang="en-US" sz="3400" dirty="0"/>
          </a:p>
          <a:p>
            <a:pPr indent="0" marL="0">
              <a:lnSpc>
                <a:spcPts val="3808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 abaixo — e é o que vale dinheiro.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560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2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9%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640080" y="34564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NO-SHOW SOBRE AGENDADOS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3712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padrão: até 10–20%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096512"/>
            <a:ext cx="32918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224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Acima do padrão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114 diagnósticos realizados de 125 agendados. Confirmação de reunião está funcionando.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032504" y="2514600"/>
            <a:ext cx="0" cy="301752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61688" y="2560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2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54%</a:t>
            </a:r>
            <a:endParaRPr lang="en-US" sz="5800" dirty="0"/>
          </a:p>
        </p:txBody>
      </p:sp>
      <p:sp>
        <p:nvSpPr>
          <p:cNvPr id="14" name="Text 11"/>
          <p:cNvSpPr/>
          <p:nvPr/>
        </p:nvSpPr>
        <p:spPr>
          <a:xfrm>
            <a:off x="4361688" y="34564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REUNIÃO → PROPOSTA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61688" y="3712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padrão: 50–70%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61688" y="4096512"/>
            <a:ext cx="32918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61688" y="4224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Dentro do padrão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361688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62 propostas sobre 114 diagnósticos realizados. A qualificação está entregando.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754112" y="2514600"/>
            <a:ext cx="0" cy="301752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83296" y="2560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2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19%</a:t>
            </a:r>
            <a:endParaRPr lang="en-US" sz="5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7397496" y="1755648"/>
            <a:ext cx="2377440" cy="23774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83296" y="34564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FECHAMENTO SOBRE PROPOSTAS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083296" y="3712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padrão: 25–40%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83296" y="4096512"/>
            <a:ext cx="3291840" cy="0"/>
          </a:xfrm>
          <a:prstGeom prst="line">
            <a:avLst/>
          </a:prstGeom>
          <a:noFill/>
          <a:ln w="9525">
            <a:solidFill>
              <a:srgbClr val="DF4E0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83296" y="4224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Abaixo do padrão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083296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ganhos sobre 62 propostas. Cada ponto percentual aqui vale ~R$ 25 mil.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Ressalva: 103 negócios em validação externa e 62 em proposta seguem em aberto — parte fecha e puxa os 19% para cima.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40080" y="64190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Padrões: benchmarks de conversão Leaderei para processos bem executados. Base: funil acumulado da Educa Open no Pipedrive.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DESEMPENHO POR CANAL · ACUMULADO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32"/>
              </a:lnSpc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agenda não é quem fecha.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2128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CANAL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108960" y="22128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ENTRADAS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114800" y="22128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VIRA REUNIÃO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577840" y="2212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PROPOSTAS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720840" y="22128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FECHA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046720" y="22128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GANHOS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235440" y="221284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LEITURA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" y="2542032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7066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Parcerias / Indicações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08960" y="27066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14800" y="27066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83%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77840" y="27066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20840" y="270662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46720" y="27066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235440" y="272491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Dobrar a aposta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3163824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3284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Eventos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108960" y="33284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114800" y="33284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77840" y="3328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20840" y="33284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46720" y="33284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235440" y="3346704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Corrigir o fundo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0080" y="3785616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3950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ABM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108960" y="39502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114800" y="3950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577840" y="39502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20840" y="39502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046720" y="39502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235440" y="3968496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Falta volume, não qualidade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40080" y="4407408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Dripify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108960" y="45720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114800" y="45720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4%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577840" y="4572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0%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046720" y="45720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235440" y="459028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Revisar ou desligar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640080" y="502920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0080" y="5193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Webinar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3108960" y="51937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510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114800" y="51937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3%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5577840" y="5193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720840" y="5193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25%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046720" y="51937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9235440" y="521208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Revisar ou desligar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640080" y="5650992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4% das entradas geram 58% dos ganhos.  ·  88% do volume de entrada gerou 1 negócio.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640080" y="64190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Vira reunião = diagnósticos agendados ÷ entradas.  Fecha = ganhos ÷ propostas enviadas.  41% dos negócios de meio de funil estão sem canal de origem no CRM.</a:t>
            </a:r>
            <a:endParaRPr lang="en-US" sz="900" dirty="0"/>
          </a:p>
        </p:txBody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DIAGNÓSTICO DOS CANAIS FRIOS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188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spc="-1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685 leads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spc="-1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frios.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spc="-1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negócio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spc="-1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ganho.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4480560" cy="0"/>
          </a:xfrm>
          <a:prstGeom prst="line">
            <a:avLst/>
          </a:prstGeom>
          <a:noFill/>
          <a:ln w="9525">
            <a:solidFill>
              <a:srgbClr val="DF4E0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Webinar (510) e Dripify (175) somam 88% de tudo que entrou no funil e entregaram um único negócio ganho, de R$ 35 mil.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1234440"/>
            <a:ext cx="0" cy="457200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26187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WEBINAR · O PROBLEMA É QUALIDADE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55080" y="164592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 486 leads em cadência, só 31 engajaram (6%). Dos 15 que agendaram, 6 não apareceram — no-show de 40%, contra 9% do funil geral. Quem baixa material de webinar ainda não é comprador.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55080" y="2761488"/>
            <a:ext cx="521208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95351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DRIPIFY · O PROBLEMA É INTENÇÃO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55080" y="333756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92% dos leads engajam no LinkedIn, mas só 7% viram reunião. Aceitar conexão e curtir não é interesse comercial — falta a ligação que qualifica de verdade.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5080" y="4453128"/>
            <a:ext cx="521208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464515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ABM · O PROBLEMA É VOLUME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55080" y="502920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Apenas 24 entradas no acumulado, mas 2 de 2 propostas viraram contrato. É o canal com melhor conversão de fundo e o menor investimento de esforço.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64190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Base: funis por canal no Pipedrive, acumulado do projeto. Dados de topo de funil do ABM sinalizados como inconsistentes na origem.</a:t>
            </a:r>
            <a:endParaRPr lang="en-US" sz="9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ALOCAÇÃO DE ESFORÇO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plano de agosto apostou</a:t>
            </a:r>
            <a:endParaRPr lang="en-US" sz="3400" dirty="0"/>
          </a:p>
          <a:p>
            <a:pPr indent="0" marL="0">
              <a:lnSpc>
                <a:spcPts val="3808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canais que menos fecham.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6517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ONDE O PLANO ALOCOU A META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83280" y="3108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reuniões  ·  43%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438144"/>
            <a:ext cx="4754880" cy="146304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822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Dripify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83280" y="3822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reuniões  ·  29%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151376"/>
            <a:ext cx="3169920" cy="146304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535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Parceiros / Indicações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3280" y="4535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reuniões  ·  29%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864608"/>
            <a:ext cx="3169920" cy="146304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2606040"/>
            <a:ext cx="0" cy="292608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26517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 ONDE VIERAM OS 12 GANHOS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5508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Parcerias / Indicações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098280" y="3108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 ·  58%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607040" y="3172968"/>
            <a:ext cx="941832" cy="118872"/>
          </a:xfrm>
          <a:prstGeom prst="rect">
            <a:avLst/>
          </a:prstGeom>
          <a:solidFill>
            <a:srgbClr val="DF4E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3538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ABM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098280" y="3538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 ·  17%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607040" y="3602736"/>
            <a:ext cx="269095" cy="118872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39684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Eventos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098280" y="3968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 ·  8%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607040" y="4032504"/>
            <a:ext cx="134547" cy="118872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43982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Webinar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9098280" y="43982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 ·  8%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607040" y="4462272"/>
            <a:ext cx="134547" cy="118872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55080" y="4828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Dripify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9098280" y="4828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  ·  0%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0607040" y="4892040"/>
            <a:ext cx="27432" cy="118872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080" y="5596128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canal que carrega 58% do resultado recebeu 29% da meta. Dripify recebeu 29% da meta e não fechou nenhum negócio.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40080" y="64190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Plano de agosto: planilha semanal de metas por SDR (ABM 12, Dripify 8, Parceiros 8 = 28). Ganhos por canal: Pipedrive, acumulado — 1 dos 12 está sem origem.</a:t>
            </a:r>
            <a:endParaRPr lang="en-US" sz="9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CONSISTÊNCIA DO PLANO DE METAS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meta de clientes não fecha</a:t>
            </a:r>
            <a:endParaRPr lang="en-US" sz="3400" dirty="0"/>
          </a:p>
          <a:p>
            <a:pPr indent="0" marL="0">
              <a:lnSpc>
                <a:spcPts val="3808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conversão atual.</a:t>
            </a:r>
            <a:endParaRPr lang="en-US" sz="3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822960" y="2057400"/>
            <a:ext cx="3840480" cy="3840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3429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4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9,6%</a:t>
            </a:r>
            <a:endParaRPr lang="en-US" sz="7600" dirty="0"/>
          </a:p>
        </p:txBody>
      </p:sp>
      <p:sp>
        <p:nvSpPr>
          <p:cNvPr id="8" name="Text 4"/>
          <p:cNvSpPr/>
          <p:nvPr/>
        </p:nvSpPr>
        <p:spPr>
          <a:xfrm>
            <a:off x="640080" y="46177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DIAGNÓSTICO AGENDADO → GANHO (REALIZADO)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0080" y="4919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negócios ganhos sobre 125 diagnósticos agendados.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60720" y="2697480"/>
            <a:ext cx="0" cy="301752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7920" y="2788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8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18%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955280" y="28072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É a conversão que o plano assume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955280" y="31363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42,55 clientes ÷ 234 agendamentos planejados de julho a dezembro.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3703320"/>
            <a:ext cx="533095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840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8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~443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955280" y="38587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Agendamentos necessários na taxa real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955280" y="41879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Quase o dobro dos 234 planejados para chegar aos mesmos 42,55 clientes.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4754880"/>
            <a:ext cx="533095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0" y="48920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8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saídas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7955280" y="49103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Subir a conversão ou rever a meta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955280" y="52395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Subir o fechamento de 19% para o padrão de 25–40% resolve sem dobrar o topo.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Ressalva: 103 negócios em validação externa e 62 em proposta ainda podem fechar e elevar a taxa realizada.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40080" y="64190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Planilha de metas do 2º semestre: 32 pontos × 1,33 cliente/ponto = 42,55 clientes, com 234 agendamentos planejados (jul–dez).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SETEMBRO · O QUE O MÊS EXIGE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8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2,1 reuniões por dia útil.</a:t>
            </a:r>
            <a:endParaRPr lang="en-US" sz="3400" dirty="0"/>
          </a:p>
          <a:p>
            <a:pPr indent="0" marL="0">
              <a:lnSpc>
                <a:spcPts val="3808"/>
              </a:lnSpc>
              <a:buNone/>
            </a:pPr>
            <a:r>
              <a:rPr lang="en-US" sz="34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ritmo atual é 1,0.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3566160"/>
            <a:ext cx="101498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2697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S1 · 01–04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9536" y="2962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realizadas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50392" y="3502152"/>
            <a:ext cx="128016" cy="128016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dias úteis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45536" y="2697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S2 · 08–11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45536" y="2962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necessárias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3136392" y="3502152"/>
            <a:ext cx="128016" cy="128016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45536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dias úteis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31536" y="2697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S3 · 14–18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31536" y="2962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necessárias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422392" y="3502152"/>
            <a:ext cx="128016" cy="128016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31536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dias úteis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17536" y="2697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S4 · 21–25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17536" y="2962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necessárias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7708392" y="3502152"/>
            <a:ext cx="128016" cy="128016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17536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dias úteis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003536" y="2697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S5 · 28–30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03536" y="2962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necessárias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9994392" y="3502152"/>
            <a:ext cx="128016" cy="128016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03536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dias úteis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0080" y="461772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4892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44</a:t>
            </a:r>
            <a:endParaRPr lang="en-US" sz="3800" dirty="0"/>
          </a:p>
        </p:txBody>
      </p:sp>
      <p:sp>
        <p:nvSpPr>
          <p:cNvPr id="29" name="Text 26"/>
          <p:cNvSpPr/>
          <p:nvPr/>
        </p:nvSpPr>
        <p:spPr>
          <a:xfrm>
            <a:off x="640080" y="5486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 DO MÊS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40080" y="57241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maior do semestre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108960" y="4892040"/>
            <a:ext cx="0" cy="91440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83280" y="4892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3800" dirty="0"/>
          </a:p>
        </p:txBody>
      </p:sp>
      <p:sp>
        <p:nvSpPr>
          <p:cNvPr id="33" name="Text 30"/>
          <p:cNvSpPr/>
          <p:nvPr/>
        </p:nvSpPr>
        <p:spPr>
          <a:xfrm>
            <a:off x="3383280" y="5486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DIAS ÚTEIS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57241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07/09 é feriado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852160" y="4892040"/>
            <a:ext cx="0" cy="91440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26480" y="4892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3800" dirty="0"/>
          </a:p>
        </p:txBody>
      </p:sp>
      <p:sp>
        <p:nvSpPr>
          <p:cNvPr id="37" name="Text 34"/>
          <p:cNvSpPr/>
          <p:nvPr/>
        </p:nvSpPr>
        <p:spPr>
          <a:xfrm>
            <a:off x="6126480" y="5486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REALIZADAS ATÉ 04/09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57241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 por dia útil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595360" y="4892040"/>
            <a:ext cx="0" cy="91440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869680" y="4892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4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~21</a:t>
            </a:r>
            <a:endParaRPr lang="en-US" sz="3800" dirty="0"/>
          </a:p>
        </p:txBody>
      </p:sp>
      <p:sp>
        <p:nvSpPr>
          <p:cNvPr id="41" name="Text 38"/>
          <p:cNvSpPr/>
          <p:nvPr/>
        </p:nvSpPr>
        <p:spPr>
          <a:xfrm>
            <a:off x="8869680" y="5486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PROJEÇÃO NO RITMO ATUAL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8869680" y="57241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48% da meta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640080" y="64190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Distribuição semanal calculada sobre os 40 agendamentos restantes em 17 dias úteis (2,4 por dia útil). Reuniões de diagnóstico criadas, conforme Pipedrive.</a:t>
            </a:r>
            <a:endParaRPr lang="en-US" sz="900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PLANO DE AÇÃO · PRÓXIMAS 4 SEMANAS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56"/>
              </a:lnSpc>
              <a:buNone/>
            </a:pPr>
            <a:r>
              <a:rPr lang="en-US" sz="38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Onde atacar primeiro.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25780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68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08" y="23317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Força-tarefa nas 42 propostas paradas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07008" y="272491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Classificar viva ou morta, motivo e próximo passo com data. É receita já qualificada esperando.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525780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368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30568" y="23317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Processo pós-reunião estruturado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30568" y="272491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Próximo passo agendado dentro da própria reunião, gatilho de decisão e follow-up em D+2, D+5 e D+10.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520440"/>
            <a:ext cx="525780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7398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07008" y="3703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Confirmação de reunião para leads de webinar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07008" y="409651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No-show do canal é 40% contra 9% do geral. Confirmação em D-1 por WhatsApp mais ligação.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63640" y="3520440"/>
            <a:ext cx="525780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37398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30568" y="3703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Ligação obrigatória na cadência do Dripify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30568" y="409651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92% engajam e 7% agendam. Sem ligação, engajamento no LinkedIn não vira reunião.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4892040"/>
            <a:ext cx="525780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111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207008" y="50749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Realocar a meta semanal por canal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07008" y="546811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Puxar volume para ABM e parceria, que fecham. Reduzir peso de webinar e Dripify enquanto não maturam.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4892040"/>
            <a:ext cx="525780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5111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30568" y="50749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Canal de origem obrigatório no CRM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30568" y="546811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41% dos negócios de meio de funil estão sem origem. Sem isso não dá para decidir onde investir.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40080" y="6263640"/>
            <a:ext cx="525780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63640" y="6263640"/>
            <a:ext cx="525780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 quatro primeiras ações não dependem de mais topo de funil. Elas atacam receita que já está dentro do funil.</a:t>
            </a:r>
            <a:endParaRPr lang="en-US" sz="13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35508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08076"/>
            <a:ext cx="68580" cy="68580"/>
          </a:xfrm>
          <a:prstGeom prst="ellipse">
            <a:avLst/>
          </a:prstGeom>
          <a:solidFill>
            <a:srgbClr val="DF4E01"/>
          </a:solidFill>
          <a:ln w="12700">
            <a:solidFill>
              <a:srgbClr val="DF4E0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512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2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PRECISA SER DECIDIDO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928"/>
              </a:lnSpc>
              <a:buNone/>
            </a:pPr>
            <a:r>
              <a:rPr lang="en-US" sz="4400" b="1" spc="-7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decisões.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40080" y="242316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2651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Mantemos webinar e Dripify por mais um ciclo?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92240" y="266090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São 88% do volume de entrada e 1 negócio ganho. Ou entram ligação e confirmação na cadência, ou o esforço vai para ABM e parceria.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0020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meta de setembro se mantém em 44?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92240" y="389534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Manter exige 2,4 reuniões por dia útil no restante do mês. Rever exige recalibrar a meta de clientes junto.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89204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5166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F4E0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assume o processo pós-proposta?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492240" y="512978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São 42 propostas paradas e 19% de fechamento contra um padrão de 25% a 40%. Sem dono e sem cadência, esse número não sobe.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6126480"/>
            <a:ext cx="109087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topo de funil já provou que responde. O próximo ganho de receita está entre a proposta e a assinatura.</a:t>
            </a:r>
            <a:endParaRPr lang="en-US" sz="14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08792" y="6537960"/>
            <a:ext cx="822960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Leaderei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 Open — Performance Comercial (jun–set/2026)</dc:title>
  <dc:subject>PptxGenJS Presentation</dc:subject>
  <dc:creator>Leaderei</dc:creator>
  <cp:lastModifiedBy>Leaderei</cp:lastModifiedBy>
  <cp:revision>1</cp:revision>
  <dcterms:created xsi:type="dcterms:W3CDTF">2026-09-04T18:03:52Z</dcterms:created>
  <dcterms:modified xsi:type="dcterms:W3CDTF">2026-09-04T18:03:52Z</dcterms:modified>
</cp:coreProperties>
</file>