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agosto foi o melhor mês do projeto — 36 diagnósticos (129% da meta) e 5 negócios ganhos, R$ 249 mil. O topo saiu de 4 em junho para 36 em agosto.
Ponto 1 — concentração: parcerias e indicações são 30 entradas (4% do total) e 7 dos 12 ganhos. Webinar (510) e Dripify (175) entregaram 1 ganho somado. Decisão a tomar: manter o investimento nos canais frios ou realocar esforço para indicação enquanto os frios não maturam.
Ponto 2 — fundo de funil: 62 propostas → 20 contratos enviados (32%). Antes disso o funil está saudável (91% e 90% entre diagnóstico e validação). O gargalo é pós-proposta: follow-up estruturado, próximos passos e gatilho de decisão.
Ponto 3 — setembro: meta de 44 é a maior do semestre e exige 2,1 reuniões por dia útil. O ritmo dos 4 primeiros dias é metade disso.
Alerta de conversão: 12 ganhos em 125 diagnósticos agendados = 9,6%. O plano de metas assume ~18% (42,55 clientes com 234 agendamentos). Se a conversão real ficar em 9,6%, seriam necessários ~443 agendamentos para a meta de clientes. Ressalva: há 103 negócios em validação externa e 62 em proposta que ainda podem fechar e elevar essa taxa.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608076"/>
            <a:ext cx="68580" cy="68580"/>
          </a:xfrm>
          <a:prstGeom prst="ellipse">
            <a:avLst/>
          </a:prstGeom>
          <a:solidFill>
            <a:srgbClr val="DF4E01"/>
          </a:solidFill>
          <a:ln w="12700">
            <a:solidFill>
              <a:srgbClr val="DF4E01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41248" y="5120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DF4E0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EDUCA OPEN · PERFORMANCE COMERCIAL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949440" y="457200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6E6E7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JUN–SET/2026   ·   FONTE: PIPEDRIVE, ATÉ 04/09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40080" y="9144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70" kern="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Agosto bateu a meta. Setembro é o teste.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640080" y="1691640"/>
            <a:ext cx="109087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288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-140" kern="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36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640080" y="2432304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AGENDAMENTOS EM AGOSTO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40080" y="265176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129% da meta (28)  ·  +64% vs. julho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127248" y="1847088"/>
            <a:ext cx="0" cy="896112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383280" y="18288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-140" kern="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4200" dirty="0"/>
          </a:p>
        </p:txBody>
      </p:sp>
      <p:sp>
        <p:nvSpPr>
          <p:cNvPr id="13" name="Text 10"/>
          <p:cNvSpPr/>
          <p:nvPr/>
        </p:nvSpPr>
        <p:spPr>
          <a:xfrm>
            <a:off x="3383280" y="2432304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NEGÓCIOS GANHOS JUN–SET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383280" y="265176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R$ 498,5 mil em contratos fechados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870448" y="1847088"/>
            <a:ext cx="0" cy="896112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26480" y="18288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-140" kern="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9,6%</a:t>
            </a:r>
            <a:endParaRPr lang="en-US" sz="4200" dirty="0"/>
          </a:p>
        </p:txBody>
      </p:sp>
      <p:sp>
        <p:nvSpPr>
          <p:cNvPr id="17" name="Text 14"/>
          <p:cNvSpPr/>
          <p:nvPr/>
        </p:nvSpPr>
        <p:spPr>
          <a:xfrm>
            <a:off x="6126480" y="2432304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DIAG. AGENDADO → GANHO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126480" y="265176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plano de metas assume 18%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613648" y="1847088"/>
            <a:ext cx="0" cy="896112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69680" y="18288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-140" kern="0" dirty="0">
                <a:solidFill>
                  <a:srgbClr val="DF4E0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44</a:t>
            </a:r>
            <a:endParaRPr lang="en-US" sz="4200" dirty="0"/>
          </a:p>
        </p:txBody>
      </p:sp>
      <p:sp>
        <p:nvSpPr>
          <p:cNvPr id="21" name="Text 18"/>
          <p:cNvSpPr/>
          <p:nvPr/>
        </p:nvSpPr>
        <p:spPr>
          <a:xfrm>
            <a:off x="8869680" y="2432304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META DE SETEMBRO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869680" y="265176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maior do semestre  ·  ritmo: 48%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40080" y="2944368"/>
            <a:ext cx="109087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315468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DF4E0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TOPO DE FUNIL  ·  REALIZADO (BARRA) X META (TRAÇO)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932688" y="4711654"/>
            <a:ext cx="603504" cy="116378"/>
          </a:xfrm>
          <a:prstGeom prst="rect">
            <a:avLst/>
          </a:prstGeom>
          <a:solidFill>
            <a:srgbClr val="5A5A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04088" y="4455622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658368" y="4882896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jun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2212848" y="4187952"/>
            <a:ext cx="603504" cy="640080"/>
          </a:xfrm>
          <a:prstGeom prst="rect">
            <a:avLst/>
          </a:prstGeom>
          <a:solidFill>
            <a:srgbClr val="5A5A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984248" y="3931920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2093976" y="3693345"/>
            <a:ext cx="841248" cy="0"/>
          </a:xfrm>
          <a:prstGeom prst="line">
            <a:avLst/>
          </a:prstGeom>
          <a:noFill/>
          <a:ln w="19050">
            <a:solidFill>
              <a:srgbClr val="DF4E0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971800" y="3583617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F4E0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39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938528" y="4882896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jul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1801368" y="5084064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E7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56% da meta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3493008" y="3780628"/>
            <a:ext cx="603504" cy="1047404"/>
          </a:xfrm>
          <a:prstGeom prst="rect">
            <a:avLst/>
          </a:prstGeom>
          <a:solidFill>
            <a:srgbClr val="E9E9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3264408" y="3524596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36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3374136" y="4013385"/>
            <a:ext cx="841248" cy="0"/>
          </a:xfrm>
          <a:prstGeom prst="line">
            <a:avLst/>
          </a:prstGeom>
          <a:noFill/>
          <a:ln w="19050">
            <a:solidFill>
              <a:srgbClr val="DF4E01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251960" y="3903657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F4E0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28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3218688" y="4882896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ago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3081528" y="5084064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F4E0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129% da meta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773168" y="4711654"/>
            <a:ext cx="603504" cy="116378"/>
          </a:xfrm>
          <a:prstGeom prst="rect">
            <a:avLst/>
          </a:prstGeom>
          <a:solidFill>
            <a:srgbClr val="5A5A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544568" y="4455622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4654296" y="3547872"/>
            <a:ext cx="841248" cy="0"/>
          </a:xfrm>
          <a:prstGeom prst="line">
            <a:avLst/>
          </a:prstGeom>
          <a:noFill/>
          <a:ln w="19050">
            <a:solidFill>
              <a:srgbClr val="DF4E01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532120" y="343814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F4E0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498848" y="4882896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set*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4361688" y="5084064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ritmo: 48%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640080" y="4828032"/>
            <a:ext cx="512064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053328" y="3127248"/>
            <a:ext cx="0" cy="214884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382512" y="3154680"/>
            <a:ext cx="5166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DF4E0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 ONDE VEM O RESULTADO  ·  ACUMULADO DO PROJETO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6382512" y="347472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E6E7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CANAL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8275320" y="34747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E6E7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ENTRADAS</a:t>
            </a:r>
            <a:endParaRPr lang="en-US" sz="850" dirty="0"/>
          </a:p>
        </p:txBody>
      </p:sp>
      <p:sp>
        <p:nvSpPr>
          <p:cNvPr id="51" name="Text 48"/>
          <p:cNvSpPr/>
          <p:nvPr/>
        </p:nvSpPr>
        <p:spPr>
          <a:xfrm>
            <a:off x="9235440" y="347472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E6E7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AGENDADAS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10360152" y="347472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E6E7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GANHOS</a:t>
            </a:r>
            <a:endParaRPr lang="en-US" sz="850" dirty="0"/>
          </a:p>
        </p:txBody>
      </p:sp>
      <p:sp>
        <p:nvSpPr>
          <p:cNvPr id="53" name="Text 50"/>
          <p:cNvSpPr/>
          <p:nvPr/>
        </p:nvSpPr>
        <p:spPr>
          <a:xfrm>
            <a:off x="11027664" y="3474720"/>
            <a:ext cx="521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E6E7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TAXA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6382512" y="3694176"/>
            <a:ext cx="5166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6382512" y="373989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Parcerias / Indicações</a:t>
            </a:r>
            <a:endParaRPr lang="en-US" sz="1200" dirty="0"/>
          </a:p>
        </p:txBody>
      </p:sp>
      <p:sp>
        <p:nvSpPr>
          <p:cNvPr id="56" name="Text 53"/>
          <p:cNvSpPr/>
          <p:nvPr/>
        </p:nvSpPr>
        <p:spPr>
          <a:xfrm>
            <a:off x="8275320" y="37398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30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9235440" y="37398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10360152" y="373989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1200" dirty="0"/>
          </a:p>
        </p:txBody>
      </p:sp>
      <p:sp>
        <p:nvSpPr>
          <p:cNvPr id="59" name="Text 56"/>
          <p:cNvSpPr/>
          <p:nvPr/>
        </p:nvSpPr>
        <p:spPr>
          <a:xfrm>
            <a:off x="11027664" y="3739896"/>
            <a:ext cx="52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F4E0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23%</a:t>
            </a:r>
            <a:endParaRPr lang="en-US" sz="1200" dirty="0"/>
          </a:p>
        </p:txBody>
      </p:sp>
      <p:sp>
        <p:nvSpPr>
          <p:cNvPr id="60" name="Shape 57"/>
          <p:cNvSpPr/>
          <p:nvPr/>
        </p:nvSpPr>
        <p:spPr>
          <a:xfrm>
            <a:off x="6382512" y="3968496"/>
            <a:ext cx="5166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6382512" y="401421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Eventos</a:t>
            </a:r>
            <a:endParaRPr lang="en-US" sz="1200" dirty="0"/>
          </a:p>
        </p:txBody>
      </p:sp>
      <p:sp>
        <p:nvSpPr>
          <p:cNvPr id="62" name="Text 59"/>
          <p:cNvSpPr/>
          <p:nvPr/>
        </p:nvSpPr>
        <p:spPr>
          <a:xfrm>
            <a:off x="8275320" y="40142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38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9235440" y="401421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1200" dirty="0"/>
          </a:p>
        </p:txBody>
      </p:sp>
      <p:sp>
        <p:nvSpPr>
          <p:cNvPr id="64" name="Text 61"/>
          <p:cNvSpPr/>
          <p:nvPr/>
        </p:nvSpPr>
        <p:spPr>
          <a:xfrm>
            <a:off x="10360152" y="401421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200" dirty="0"/>
          </a:p>
        </p:txBody>
      </p:sp>
      <p:sp>
        <p:nvSpPr>
          <p:cNvPr id="65" name="Text 62"/>
          <p:cNvSpPr/>
          <p:nvPr/>
        </p:nvSpPr>
        <p:spPr>
          <a:xfrm>
            <a:off x="11027664" y="4014216"/>
            <a:ext cx="52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3%</a:t>
            </a:r>
            <a:endParaRPr lang="en-US" sz="1200" dirty="0"/>
          </a:p>
        </p:txBody>
      </p:sp>
      <p:sp>
        <p:nvSpPr>
          <p:cNvPr id="66" name="Shape 63"/>
          <p:cNvSpPr/>
          <p:nvPr/>
        </p:nvSpPr>
        <p:spPr>
          <a:xfrm>
            <a:off x="6382512" y="4242816"/>
            <a:ext cx="5166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6382512" y="428853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ABM*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8275320" y="42885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9235440" y="428853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200" dirty="0"/>
          </a:p>
        </p:txBody>
      </p:sp>
      <p:sp>
        <p:nvSpPr>
          <p:cNvPr id="70" name="Text 67"/>
          <p:cNvSpPr/>
          <p:nvPr/>
        </p:nvSpPr>
        <p:spPr>
          <a:xfrm>
            <a:off x="10360152" y="42885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200" dirty="0"/>
          </a:p>
        </p:txBody>
      </p:sp>
      <p:sp>
        <p:nvSpPr>
          <p:cNvPr id="71" name="Text 68"/>
          <p:cNvSpPr/>
          <p:nvPr/>
        </p:nvSpPr>
        <p:spPr>
          <a:xfrm>
            <a:off x="11027664" y="4288536"/>
            <a:ext cx="52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8%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382512" y="4517136"/>
            <a:ext cx="5166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6382512" y="456285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Dripify</a:t>
            </a:r>
            <a:endParaRPr lang="en-US" sz="1200" dirty="0"/>
          </a:p>
        </p:txBody>
      </p:sp>
      <p:sp>
        <p:nvSpPr>
          <p:cNvPr id="74" name="Text 71"/>
          <p:cNvSpPr/>
          <p:nvPr/>
        </p:nvSpPr>
        <p:spPr>
          <a:xfrm>
            <a:off x="8275320" y="456285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175</a:t>
            </a:r>
            <a:endParaRPr lang="en-US" sz="1200" dirty="0"/>
          </a:p>
        </p:txBody>
      </p:sp>
      <p:sp>
        <p:nvSpPr>
          <p:cNvPr id="75" name="Text 72"/>
          <p:cNvSpPr/>
          <p:nvPr/>
        </p:nvSpPr>
        <p:spPr>
          <a:xfrm>
            <a:off x="9235440" y="456285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1200" dirty="0"/>
          </a:p>
        </p:txBody>
      </p:sp>
      <p:sp>
        <p:nvSpPr>
          <p:cNvPr id="76" name="Text 73"/>
          <p:cNvSpPr/>
          <p:nvPr/>
        </p:nvSpPr>
        <p:spPr>
          <a:xfrm>
            <a:off x="10360152" y="4562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</a:t>
            </a:r>
            <a:endParaRPr lang="en-US" sz="1200" dirty="0"/>
          </a:p>
        </p:txBody>
      </p:sp>
      <p:sp>
        <p:nvSpPr>
          <p:cNvPr id="77" name="Text 74"/>
          <p:cNvSpPr/>
          <p:nvPr/>
        </p:nvSpPr>
        <p:spPr>
          <a:xfrm>
            <a:off x="11027664" y="4562856"/>
            <a:ext cx="52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0%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382512" y="4791456"/>
            <a:ext cx="5166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82512" y="483717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Webinar</a:t>
            </a:r>
            <a:endParaRPr lang="en-US" sz="1200" dirty="0"/>
          </a:p>
        </p:txBody>
      </p:sp>
      <p:sp>
        <p:nvSpPr>
          <p:cNvPr id="80" name="Text 77"/>
          <p:cNvSpPr/>
          <p:nvPr/>
        </p:nvSpPr>
        <p:spPr>
          <a:xfrm>
            <a:off x="8275320" y="48371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510</a:t>
            </a:r>
            <a:endParaRPr lang="en-US" sz="1200" dirty="0"/>
          </a:p>
        </p:txBody>
      </p:sp>
      <p:sp>
        <p:nvSpPr>
          <p:cNvPr id="81" name="Text 78"/>
          <p:cNvSpPr/>
          <p:nvPr/>
        </p:nvSpPr>
        <p:spPr>
          <a:xfrm>
            <a:off x="9235440" y="483717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79"/>
          <p:cNvSpPr/>
          <p:nvPr/>
        </p:nvSpPr>
        <p:spPr>
          <a:xfrm>
            <a:off x="10360152" y="48371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200" dirty="0"/>
          </a:p>
        </p:txBody>
      </p:sp>
      <p:sp>
        <p:nvSpPr>
          <p:cNvPr id="83" name="Text 80"/>
          <p:cNvSpPr/>
          <p:nvPr/>
        </p:nvSpPr>
        <p:spPr>
          <a:xfrm>
            <a:off x="11027664" y="4837176"/>
            <a:ext cx="52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0,2%</a:t>
            </a:r>
            <a:endParaRPr lang="en-US" sz="1200" dirty="0"/>
          </a:p>
        </p:txBody>
      </p:sp>
      <p:sp>
        <p:nvSpPr>
          <p:cNvPr id="84" name="Shape 81"/>
          <p:cNvSpPr/>
          <p:nvPr/>
        </p:nvSpPr>
        <p:spPr>
          <a:xfrm>
            <a:off x="6382512" y="5065776"/>
            <a:ext cx="5166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6382512" y="5138928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4% das entradas geram 58% dos ganhos.</a:t>
            </a:r>
            <a:endParaRPr lang="en-US" sz="1050" dirty="0"/>
          </a:p>
        </p:txBody>
      </p:sp>
      <p:sp>
        <p:nvSpPr>
          <p:cNvPr id="86" name="Shape 83"/>
          <p:cNvSpPr/>
          <p:nvPr/>
        </p:nvSpPr>
        <p:spPr>
          <a:xfrm>
            <a:off x="640080" y="5358384"/>
            <a:ext cx="109087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40080" y="5577840"/>
            <a:ext cx="77724" cy="77724"/>
          </a:xfrm>
          <a:prstGeom prst="ellipse">
            <a:avLst/>
          </a:prstGeom>
          <a:solidFill>
            <a:srgbClr val="DF4E01"/>
          </a:solidFill>
          <a:ln w="12700">
            <a:solidFill>
              <a:srgbClr val="DF4E01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877824" y="547725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Resultado concentrado em indicação</a:t>
            </a:r>
            <a:endParaRPr lang="en-US" sz="1400" dirty="0"/>
          </a:p>
        </p:txBody>
      </p:sp>
      <p:sp>
        <p:nvSpPr>
          <p:cNvPr id="89" name="Text 86"/>
          <p:cNvSpPr/>
          <p:nvPr/>
        </p:nvSpPr>
        <p:spPr>
          <a:xfrm>
            <a:off x="877824" y="577900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Webinar e Dripify são 88% das entradas e entregaram 1 ganho no total.</a:t>
            </a:r>
            <a:endParaRPr lang="en-US" sz="1100" dirty="0"/>
          </a:p>
        </p:txBody>
      </p:sp>
      <p:sp>
        <p:nvSpPr>
          <p:cNvPr id="90" name="Shape 87"/>
          <p:cNvSpPr/>
          <p:nvPr/>
        </p:nvSpPr>
        <p:spPr>
          <a:xfrm>
            <a:off x="4361688" y="5577840"/>
            <a:ext cx="77724" cy="77724"/>
          </a:xfrm>
          <a:prstGeom prst="ellipse">
            <a:avLst/>
          </a:prstGeom>
          <a:solidFill>
            <a:srgbClr val="DF4E01"/>
          </a:solidFill>
          <a:ln w="12700">
            <a:solidFill>
              <a:srgbClr val="DF4E01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4599432" y="547725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 funil trava na proposta</a:t>
            </a:r>
            <a:endParaRPr lang="en-US" sz="1400" dirty="0"/>
          </a:p>
        </p:txBody>
      </p:sp>
      <p:sp>
        <p:nvSpPr>
          <p:cNvPr id="92" name="Text 89"/>
          <p:cNvSpPr/>
          <p:nvPr/>
        </p:nvSpPr>
        <p:spPr>
          <a:xfrm>
            <a:off x="4599432" y="577900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62 propostas viraram 20 contratos enviados — 32%. Maior perda depois do topo.</a:t>
            </a:r>
            <a:endParaRPr lang="en-US" sz="1100" dirty="0"/>
          </a:p>
        </p:txBody>
      </p:sp>
      <p:sp>
        <p:nvSpPr>
          <p:cNvPr id="93" name="Shape 90"/>
          <p:cNvSpPr/>
          <p:nvPr/>
        </p:nvSpPr>
        <p:spPr>
          <a:xfrm>
            <a:off x="8083296" y="5577840"/>
            <a:ext cx="77724" cy="77724"/>
          </a:xfrm>
          <a:prstGeom prst="ellipse">
            <a:avLst/>
          </a:prstGeom>
          <a:solidFill>
            <a:srgbClr val="DF4E01"/>
          </a:solidFill>
          <a:ln w="12700">
            <a:solidFill>
              <a:srgbClr val="DF4E01"/>
            </a:solidFill>
            <a:prstDash val="solid"/>
          </a:ln>
        </p:spPr>
      </p:sp>
      <p:sp>
        <p:nvSpPr>
          <p:cNvPr id="94" name="Text 91"/>
          <p:cNvSpPr/>
          <p:nvPr/>
        </p:nvSpPr>
        <p:spPr>
          <a:xfrm>
            <a:off x="8321040" y="547725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Setembro pede 2,1 reuniões por dia útil</a:t>
            </a:r>
            <a:endParaRPr lang="en-US" sz="1400" dirty="0"/>
          </a:p>
        </p:txBody>
      </p:sp>
      <p:sp>
        <p:nvSpPr>
          <p:cNvPr id="95" name="Text 92"/>
          <p:cNvSpPr/>
          <p:nvPr/>
        </p:nvSpPr>
        <p:spPr>
          <a:xfrm>
            <a:off x="8321040" y="577900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0A0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 4 dias úteis: 4 agendadas (1,0/dia). No ritmo atual, fecha em ~21 de 44.</a:t>
            </a:r>
            <a:endParaRPr lang="en-US" sz="1100" dirty="0"/>
          </a:p>
        </p:txBody>
      </p:sp>
      <p:sp>
        <p:nvSpPr>
          <p:cNvPr id="96" name="Text 93"/>
          <p:cNvSpPr/>
          <p:nvPr/>
        </p:nvSpPr>
        <p:spPr>
          <a:xfrm>
            <a:off x="640080" y="638251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Fontes: funil da Educa Open no Pipedrive e planilha de metas do 2º semestre.  *Setembro parcial: 4 de 21 dias úteis.  *Entradas de ABM inconsistentes na origem.</a:t>
            </a:r>
            <a:endParaRPr lang="en-US" sz="900" dirty="0"/>
          </a:p>
        </p:txBody>
      </p:sp>
      <p:sp>
        <p:nvSpPr>
          <p:cNvPr id="97" name="Text 94"/>
          <p:cNvSpPr/>
          <p:nvPr/>
        </p:nvSpPr>
        <p:spPr>
          <a:xfrm>
            <a:off x="640080" y="6547104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Topo de funil = reuniões de diagnóstico criadas no mês; canais = negócios por etapa, acumulado. Meta implícita de 18% = 42,55 clientes ÷ 234 agendamentos planejados (jul–dez).</a:t>
            </a:r>
            <a:endParaRPr lang="en-US" sz="900" dirty="0"/>
          </a:p>
        </p:txBody>
      </p:sp>
      <p:pic>
        <p:nvPicPr>
          <p:cNvPr id="98" name="Image 1" descr="preencoded.png">    </p:cNvPr>
          <p:cNvPicPr>
            <a:picLocks noChangeAspect="1"/>
          </p:cNvPicPr>
          <p:nvPr/>
        </p:nvPicPr>
        <p:blipFill>
          <a:blip r:embed="rId2">
            <a:alphaModFix amt="65000"/>
          </a:blip>
          <a:stretch>
            <a:fillRect/>
          </a:stretch>
        </p:blipFill>
        <p:spPr>
          <a:xfrm>
            <a:off x="10908792" y="6446520"/>
            <a:ext cx="822960" cy="1828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Leaderei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Educa Open — Performance Comercial (jun–set/2026)</dc:title>
  <dc:subject>PptxGenJS Presentation</dc:subject>
  <dc:creator>Leaderei</dc:creator>
  <cp:lastModifiedBy>Leaderei</cp:lastModifiedBy>
  <cp:revision>1</cp:revision>
  <dcterms:created xsi:type="dcterms:W3CDTF">2026-09-04T17:47:53Z</dcterms:created>
  <dcterms:modified xsi:type="dcterms:W3CDTF">2026-09-04T17:47:53Z</dcterms:modified>
</cp:coreProperties>
</file>